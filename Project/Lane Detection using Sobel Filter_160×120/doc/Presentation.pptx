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41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70548" y="1178002"/>
            <a:ext cx="5013253" cy="4916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VGA_Display_640x480 creates the VGA timing signals and gives the current x/y pixel position.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x/y position is converted to a 160 x 120 image address and sent to image_rom_160x120.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image_rom_160x120 outputs one grayscale road-image pixel.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Sobel_Filter_3x3 builds a 3 x 3 pixel window and calculates the Sobel edge strength.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Lane_Detection_using_Sobel_Filter_top</a:t>
            </a: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selects original image or Sobel output using SW0.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selected grayscale pixel is sent to the VGA RGB outputs, together with </a:t>
            </a:r>
            <a:r>
              <a:rPr lang="en-US" sz="1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Hsync</a:t>
            </a: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Vsync</a:t>
            </a:r>
            <a:r>
              <a:rPr lang="en-US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DE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 Detection using Sobel Filter  |  1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0A6B33-1DB0-33B0-BDE2-F04A63C33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516" y="1327552"/>
            <a:ext cx="4304023" cy="4916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Artix-7 / Nexys A7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 Detection using Sobel Filter  |  2</a:t>
            </a:r>
            <a:endParaRPr lang="en-US" sz="9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1B9CFE9-516D-DF67-CAC3-EBA61F910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894946"/>
              </p:ext>
            </p:extLst>
          </p:nvPr>
        </p:nvGraphicFramePr>
        <p:xfrm>
          <a:off x="557786" y="1845521"/>
          <a:ext cx="6666858" cy="1860890"/>
        </p:xfrm>
        <a:graphic>
          <a:graphicData uri="http://schemas.openxmlformats.org/drawingml/2006/table">
            <a:tbl>
              <a:tblPr firstRow="1" firstCol="1" bandRow="1"/>
              <a:tblGrid>
                <a:gridCol w="2222286">
                  <a:extLst>
                    <a:ext uri="{9D8B030D-6E8A-4147-A177-3AD203B41FA5}">
                      <a16:colId xmlns:a16="http://schemas.microsoft.com/office/drawing/2014/main" val="3472411496"/>
                    </a:ext>
                  </a:extLst>
                </a:gridCol>
                <a:gridCol w="2222286">
                  <a:extLst>
                    <a:ext uri="{9D8B030D-6E8A-4147-A177-3AD203B41FA5}">
                      <a16:colId xmlns:a16="http://schemas.microsoft.com/office/drawing/2014/main" val="3016040609"/>
                    </a:ext>
                  </a:extLst>
                </a:gridCol>
                <a:gridCol w="2222286">
                  <a:extLst>
                    <a:ext uri="{9D8B030D-6E8A-4147-A177-3AD203B41FA5}">
                      <a16:colId xmlns:a16="http://schemas.microsoft.com/office/drawing/2014/main" val="3765292039"/>
                    </a:ext>
                  </a:extLst>
                </a:gridCol>
              </a:tblGrid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VHDL file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Purpose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5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Beginner explanation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765581"/>
                  </a:ext>
                </a:extLst>
              </a:tr>
              <a:tr h="337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Lane_Detection_using_Sobel_Filter_top.vhd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Top-level VHDL file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Connects all other modules and board I/O.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03287"/>
                  </a:ext>
                </a:extLst>
              </a:tr>
              <a:tr h="337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VGA_Display_640x480.vhd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VGA timing generator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Creates x/y position, pixel_ce, visible area, Hsync and Vsync.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659377"/>
                  </a:ext>
                </a:extLst>
              </a:tr>
              <a:tr h="337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image_rom_160x120.vhd</a:t>
                      </a:r>
                      <a:endParaRPr lang="en-DE" sz="105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Image ROM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Stores the grayscale road image as pixel values.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99745"/>
                  </a:ext>
                </a:extLst>
              </a:tr>
              <a:tr h="337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Sobel_Filter_3x3.vhd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Sobel filter module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Detects image edges using a 3 x 3 pixel window.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981038"/>
                  </a:ext>
                </a:extLst>
              </a:tr>
              <a:tr h="337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Implemented_in_Artix7_100T.xdc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Constraints file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Maps VHDL ports to real FPGA board pins.</a:t>
                      </a:r>
                      <a:endParaRPr lang="en-DE" sz="105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59357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6AC4ED5-338C-C537-551C-7E5632CBB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930185"/>
              </p:ext>
            </p:extLst>
          </p:nvPr>
        </p:nvGraphicFramePr>
        <p:xfrm>
          <a:off x="530352" y="4472939"/>
          <a:ext cx="6694292" cy="1973580"/>
        </p:xfrm>
        <a:graphic>
          <a:graphicData uri="http://schemas.openxmlformats.org/drawingml/2006/table">
            <a:tbl>
              <a:tblPr firstRow="1" firstCol="1" bandRow="1"/>
              <a:tblGrid>
                <a:gridCol w="2404858">
                  <a:extLst>
                    <a:ext uri="{9D8B030D-6E8A-4147-A177-3AD203B41FA5}">
                      <a16:colId xmlns:a16="http://schemas.microsoft.com/office/drawing/2014/main" val="2648721099"/>
                    </a:ext>
                  </a:extLst>
                </a:gridCol>
                <a:gridCol w="2144717">
                  <a:extLst>
                    <a:ext uri="{9D8B030D-6E8A-4147-A177-3AD203B41FA5}">
                      <a16:colId xmlns:a16="http://schemas.microsoft.com/office/drawing/2014/main" val="4267589737"/>
                    </a:ext>
                  </a:extLst>
                </a:gridCol>
                <a:gridCol w="2144717">
                  <a:extLst>
                    <a:ext uri="{9D8B030D-6E8A-4147-A177-3AD203B41FA5}">
                      <a16:colId xmlns:a16="http://schemas.microsoft.com/office/drawing/2014/main" val="191044230"/>
                    </a:ext>
                  </a:extLst>
                </a:gridCol>
              </a:tblGrid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Signal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Direction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02607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CLK100MHZ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100 MHz clock from the Nexys A7 board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03631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SW0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Selects original image or Sobel edge 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51303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vgaRed</a:t>
                      </a: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[3:0]</a:t>
                      </a:r>
                      <a:endParaRPr lang="en-DE" sz="105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4-bit VGA red signal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526436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vgaGreen[3:0]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4-bit VGA green signal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950755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vgaBlue[3:0]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4-bit VGA blue signal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020902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Hsync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 horizontal synchronization signal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54237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Vsync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 vertical synchronization signal</a:t>
                      </a:r>
                      <a:endParaRPr lang="en-DE" sz="105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32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709DE73-4986-D91F-E4B7-2B3420B3B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520844"/>
              </p:ext>
            </p:extLst>
          </p:nvPr>
        </p:nvGraphicFramePr>
        <p:xfrm>
          <a:off x="7631307" y="2420087"/>
          <a:ext cx="3567636" cy="580281"/>
        </p:xfrm>
        <a:graphic>
          <a:graphicData uri="http://schemas.openxmlformats.org/drawingml/2006/table">
            <a:tbl>
              <a:tblPr firstRow="1" firstCol="1" bandRow="1"/>
              <a:tblGrid>
                <a:gridCol w="1783818">
                  <a:extLst>
                    <a:ext uri="{9D8B030D-6E8A-4147-A177-3AD203B41FA5}">
                      <a16:colId xmlns:a16="http://schemas.microsoft.com/office/drawing/2014/main" val="2152637047"/>
                    </a:ext>
                  </a:extLst>
                </a:gridCol>
                <a:gridCol w="1783818">
                  <a:extLst>
                    <a:ext uri="{9D8B030D-6E8A-4147-A177-3AD203B41FA5}">
                      <a16:colId xmlns:a16="http://schemas.microsoft.com/office/drawing/2014/main" val="2137595019"/>
                    </a:ext>
                  </a:extLst>
                </a:gridCol>
              </a:tblGrid>
              <a:tr h="193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SW0 value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VGA output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031196"/>
                  </a:ext>
                </a:extLst>
              </a:tr>
              <a:tr h="193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Original road image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37291"/>
                  </a:ext>
                </a:extLst>
              </a:tr>
              <a:tr h="193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DE" sz="105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Sobel edge-detection output</a:t>
                      </a:r>
                      <a:endParaRPr lang="en-DE" sz="105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54846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5CF58DD-263D-F44F-BE27-F9FECBBBED8B}"/>
              </a:ext>
            </a:extLst>
          </p:cNvPr>
          <p:cNvSpPr txBox="1"/>
          <p:nvPr/>
        </p:nvSpPr>
        <p:spPr>
          <a:xfrm>
            <a:off x="7521677" y="2040873"/>
            <a:ext cx="2694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Display Modes</a:t>
            </a:r>
            <a:endParaRPr lang="en-DE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0FE965-75C1-37A1-E6AB-9B00463B34CD}"/>
              </a:ext>
            </a:extLst>
          </p:cNvPr>
          <p:cNvSpPr txBox="1"/>
          <p:nvPr/>
        </p:nvSpPr>
        <p:spPr>
          <a:xfrm>
            <a:off x="502920" y="410077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Inputs and  Outputs </a:t>
            </a:r>
            <a:endParaRPr lang="en-DE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8E0FBD-E8DF-BF67-36AD-015F715C7E75}"/>
              </a:ext>
            </a:extLst>
          </p:cNvPr>
          <p:cNvSpPr txBox="1"/>
          <p:nvPr/>
        </p:nvSpPr>
        <p:spPr>
          <a:xfrm>
            <a:off x="530352" y="1444753"/>
            <a:ext cx="126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VHDL Files</a:t>
            </a:r>
            <a:endParaRPr lang="en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FPGA-to-PCB Concept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PCB concept replacing the Nexys A7 board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" name="Image 0" descr="/mnt/data/Lane_Detection_using_Sobel_Filter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51" y="1219199"/>
            <a:ext cx="7360920" cy="490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9224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Lane Detection using Sobel Filter  | 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352</Words>
  <Application>Microsoft Office PowerPoint</Application>
  <PresentationFormat>Widescreen</PresentationFormat>
  <Paragraphs>68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HSHL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VHDL Lane Detection using Sobel Filter</dc:title>
  <dc:subject>VHDL Lane Detection using Sobel Filter</dc:subject>
  <dc:creator>ChatGPT</dc:creator>
  <cp:lastModifiedBy>M R Sohan</cp:lastModifiedBy>
  <cp:revision>3</cp:revision>
  <dcterms:created xsi:type="dcterms:W3CDTF">2026-06-30T07:26:31Z</dcterms:created>
  <dcterms:modified xsi:type="dcterms:W3CDTF">2026-06-30T05:55:14Z</dcterms:modified>
</cp:coreProperties>
</file>